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82296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9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NaVRatM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914400" y="2834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Beneficiary Intelligence &amp; Fraud Detection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371600" y="3429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India's welfare ecosystem with evidence-based intelligence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2026  |  Powered by Sarvam 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welfare disbursement leaks ₹1+ lakh crore annually to fraud, duplication, and ghost beneficiaries.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749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146304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164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600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Overload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80160" y="19659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review every application with equal effort — no triage, no prioritisation.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417320"/>
            <a:ext cx="3749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417320"/>
            <a:ext cx="54864" cy="146304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69164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600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Fragmented Data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486400" y="19659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Documents, voice statements, and siloed records are never cross-verified automatically.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200400"/>
            <a:ext cx="3749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8640" y="3200400"/>
            <a:ext cx="54864" cy="146304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47472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Invisible Fraud Rings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280160" y="37490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Duplicate/synthetic identities and shared-account networks go undetected at scale.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3200400"/>
            <a:ext cx="3749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3200400"/>
            <a:ext cx="54864" cy="146304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474720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Audit Trail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486400" y="37490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reasoning is implicit — decisions can't be justified or reviewed objectively.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9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officer assistant that ingests, verifies, scores, and explains every welfare application.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560320" cy="24688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2560320" cy="54864"/>
          </a:xfrm>
          <a:prstGeom prst="rect">
            <a:avLst/>
          </a:prstGeom>
          <a:solidFill>
            <a:srgbClr val="FF993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340" y="16916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Intelligent Detection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27432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fraud engine: deterministic rules, graph analysis, anomaly patterns, and LLM-assisted reasoning.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29000" y="1417320"/>
            <a:ext cx="2560320" cy="24688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29000" y="1417320"/>
            <a:ext cx="2560320" cy="54864"/>
          </a:xfrm>
          <a:prstGeom prst="rect">
            <a:avLst/>
          </a:prstGeom>
          <a:solidFill>
            <a:srgbClr val="FF993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169164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1188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Voice-First, Multilingual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611880" y="27432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AI powers STT, TTS, translation across 12+ Indian languages — officers speak, system understands.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309360" y="1417320"/>
            <a:ext cx="2560320" cy="24688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09360" y="1417320"/>
            <a:ext cx="2560320" cy="54864"/>
          </a:xfrm>
          <a:prstGeom prst="rect">
            <a:avLst/>
          </a:prstGeom>
          <a:solidFill>
            <a:srgbClr val="FF993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060" y="169164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9224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Explainable &amp; Auditable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92240" y="27432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risk score comes with evidence-backed explanation, source citations, and recommended action.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pipeline: Ingest → Extract → Verify → Detect → Score → Explain → Decide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9144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0" cy="45720"/>
          </a:xfrm>
          <a:prstGeom prst="rect">
            <a:avLst/>
          </a:prstGeom>
          <a:solidFill>
            <a:srgbClr val="FF993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48056" y="13075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48056" y="1307592"/>
            <a:ext cx="201168" cy="201168"/>
          </a:xfrm>
          <a:prstGeom prst="ellipse">
            <a:avLst/>
          </a:prstGeom>
          <a:solidFill>
            <a:srgbClr val="FF9933"/>
          </a:solidFill>
          <a:ln/>
        </p:spPr>
      </p:sp>
      <p:sp>
        <p:nvSpPr>
          <p:cNvPr id="10" name="Text 7"/>
          <p:cNvSpPr/>
          <p:nvPr/>
        </p:nvSpPr>
        <p:spPr>
          <a:xfrm>
            <a:off x="448056" y="1307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11480" y="18928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Intake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21945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/ Doc / Form</a:t>
            </a:r>
            <a:endParaRPr lang="en-US" sz="9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024" y="1874520"/>
            <a:ext cx="128016" cy="12801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453896" y="1234440"/>
            <a:ext cx="9144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453896" y="1234440"/>
            <a:ext cx="914400" cy="45720"/>
          </a:xfrm>
          <a:prstGeom prst="rect">
            <a:avLst/>
          </a:prstGeom>
          <a:solidFill>
            <a:srgbClr val="FF993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8216" y="14173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90472" y="13075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1490472" y="1307592"/>
            <a:ext cx="201168" cy="201168"/>
          </a:xfrm>
          <a:prstGeom prst="ellipse">
            <a:avLst/>
          </a:prstGeom>
          <a:solidFill>
            <a:srgbClr val="FF9933"/>
          </a:solidFill>
          <a:ln/>
        </p:spPr>
      </p:sp>
      <p:sp>
        <p:nvSpPr>
          <p:cNvPr id="19" name="Text 14"/>
          <p:cNvSpPr/>
          <p:nvPr/>
        </p:nvSpPr>
        <p:spPr>
          <a:xfrm>
            <a:off x="1490472" y="1307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453896" y="18928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1499616" y="21945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Sarvam Vision</a:t>
            </a:r>
            <a:endParaRPr lang="en-US" sz="9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1874520"/>
            <a:ext cx="128016" cy="128016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2496312" y="1234440"/>
            <a:ext cx="9144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2496312" y="1234440"/>
            <a:ext cx="914400" cy="45720"/>
          </a:xfrm>
          <a:prstGeom prst="rect">
            <a:avLst/>
          </a:prstGeom>
          <a:solidFill>
            <a:srgbClr val="FF9933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0632" y="141732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2532888" y="13075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2532888" y="1307592"/>
            <a:ext cx="201168" cy="201168"/>
          </a:xfrm>
          <a:prstGeom prst="ellipse">
            <a:avLst/>
          </a:prstGeom>
          <a:solidFill>
            <a:srgbClr val="FF9933"/>
          </a:solidFill>
          <a:ln/>
        </p:spPr>
      </p:sp>
      <p:sp>
        <p:nvSpPr>
          <p:cNvPr id="28" name="Text 21"/>
          <p:cNvSpPr/>
          <p:nvPr/>
        </p:nvSpPr>
        <p:spPr>
          <a:xfrm>
            <a:off x="2532888" y="1307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2496312" y="18928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2542032" y="21945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Cross-verification</a:t>
            </a:r>
            <a:endParaRPr lang="en-US" sz="90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9856" y="1874520"/>
            <a:ext cx="128016" cy="128016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3538728" y="1234440"/>
            <a:ext cx="9144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3538728" y="1234440"/>
            <a:ext cx="914400" cy="45720"/>
          </a:xfrm>
          <a:prstGeom prst="rect">
            <a:avLst/>
          </a:prstGeom>
          <a:solidFill>
            <a:srgbClr val="FF9933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3048" y="1417320"/>
            <a:ext cx="365760" cy="36576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3575304" y="13075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6" name="Shape 27"/>
          <p:cNvSpPr/>
          <p:nvPr/>
        </p:nvSpPr>
        <p:spPr>
          <a:xfrm>
            <a:off x="3575304" y="1307592"/>
            <a:ext cx="201168" cy="201168"/>
          </a:xfrm>
          <a:prstGeom prst="ellipse">
            <a:avLst/>
          </a:prstGeom>
          <a:solidFill>
            <a:srgbClr val="FF9933"/>
          </a:solidFill>
          <a:ln/>
        </p:spPr>
      </p:sp>
      <p:sp>
        <p:nvSpPr>
          <p:cNvPr id="37" name="Text 28"/>
          <p:cNvSpPr/>
          <p:nvPr/>
        </p:nvSpPr>
        <p:spPr>
          <a:xfrm>
            <a:off x="3575304" y="1307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8" name="Text 29"/>
          <p:cNvSpPr/>
          <p:nvPr/>
        </p:nvSpPr>
        <p:spPr>
          <a:xfrm>
            <a:off x="3538728" y="18928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Enrich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3584448" y="21945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data connectors</a:t>
            </a:r>
            <a:endParaRPr lang="en-US" sz="900" dirty="0"/>
          </a:p>
        </p:txBody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2272" y="1874520"/>
            <a:ext cx="128016" cy="128016"/>
          </a:xfrm>
          <a:prstGeom prst="rect">
            <a:avLst/>
          </a:prstGeom>
        </p:spPr>
      </p:pic>
      <p:sp>
        <p:nvSpPr>
          <p:cNvPr id="41" name="Shape 31"/>
          <p:cNvSpPr/>
          <p:nvPr/>
        </p:nvSpPr>
        <p:spPr>
          <a:xfrm>
            <a:off x="4581144" y="1234440"/>
            <a:ext cx="9144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42" name="Shape 32"/>
          <p:cNvSpPr/>
          <p:nvPr/>
        </p:nvSpPr>
        <p:spPr>
          <a:xfrm>
            <a:off x="4581144" y="1234440"/>
            <a:ext cx="914400" cy="45720"/>
          </a:xfrm>
          <a:prstGeom prst="rect">
            <a:avLst/>
          </a:prstGeom>
          <a:solidFill>
            <a:srgbClr val="FF9933"/>
          </a:solidFill>
          <a:ln/>
        </p:spPr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5464" y="1417320"/>
            <a:ext cx="365760" cy="365760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4617720" y="13075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5" name="Shape 34"/>
          <p:cNvSpPr/>
          <p:nvPr/>
        </p:nvSpPr>
        <p:spPr>
          <a:xfrm>
            <a:off x="4617720" y="1307592"/>
            <a:ext cx="201168" cy="201168"/>
          </a:xfrm>
          <a:prstGeom prst="ellipse">
            <a:avLst/>
          </a:prstGeom>
          <a:solidFill>
            <a:srgbClr val="FF9933"/>
          </a:solidFill>
          <a:ln/>
        </p:spPr>
      </p:sp>
      <p:sp>
        <p:nvSpPr>
          <p:cNvPr id="46" name="Text 35"/>
          <p:cNvSpPr/>
          <p:nvPr/>
        </p:nvSpPr>
        <p:spPr>
          <a:xfrm>
            <a:off x="4617720" y="1307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7" name="Text 36"/>
          <p:cNvSpPr/>
          <p:nvPr/>
        </p:nvSpPr>
        <p:spPr>
          <a:xfrm>
            <a:off x="4581144" y="18928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</a:t>
            </a:r>
            <a:endParaRPr lang="en-US" sz="1100" dirty="0"/>
          </a:p>
        </p:txBody>
      </p:sp>
      <p:sp>
        <p:nvSpPr>
          <p:cNvPr id="48" name="Text 37"/>
          <p:cNvSpPr/>
          <p:nvPr/>
        </p:nvSpPr>
        <p:spPr>
          <a:xfrm>
            <a:off x="4626864" y="21945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fraud patterns</a:t>
            </a:r>
            <a:endParaRPr lang="en-US" sz="900" dirty="0"/>
          </a:p>
        </p:txBody>
      </p:sp>
      <p:pic>
        <p:nvPicPr>
          <p:cNvPr id="4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04688" y="1874520"/>
            <a:ext cx="128016" cy="128016"/>
          </a:xfrm>
          <a:prstGeom prst="rect">
            <a:avLst/>
          </a:prstGeom>
        </p:spPr>
      </p:pic>
      <p:sp>
        <p:nvSpPr>
          <p:cNvPr id="50" name="Shape 38"/>
          <p:cNvSpPr/>
          <p:nvPr/>
        </p:nvSpPr>
        <p:spPr>
          <a:xfrm>
            <a:off x="5623560" y="1234440"/>
            <a:ext cx="9144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51" name="Shape 39"/>
          <p:cNvSpPr/>
          <p:nvPr/>
        </p:nvSpPr>
        <p:spPr>
          <a:xfrm>
            <a:off x="5623560" y="1234440"/>
            <a:ext cx="914400" cy="45720"/>
          </a:xfrm>
          <a:prstGeom prst="rect">
            <a:avLst/>
          </a:prstGeom>
          <a:solidFill>
            <a:srgbClr val="FF9933"/>
          </a:solidFill>
          <a:ln/>
        </p:spPr>
      </p:sp>
      <p:pic>
        <p:nvPicPr>
          <p:cNvPr id="5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97880" y="1417320"/>
            <a:ext cx="365760" cy="365760"/>
          </a:xfrm>
          <a:prstGeom prst="rect">
            <a:avLst/>
          </a:prstGeom>
        </p:spPr>
      </p:pic>
      <p:sp>
        <p:nvSpPr>
          <p:cNvPr id="53" name="Text 40"/>
          <p:cNvSpPr/>
          <p:nvPr/>
        </p:nvSpPr>
        <p:spPr>
          <a:xfrm>
            <a:off x="5660136" y="13075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4" name="Shape 41"/>
          <p:cNvSpPr/>
          <p:nvPr/>
        </p:nvSpPr>
        <p:spPr>
          <a:xfrm>
            <a:off x="5660136" y="1307592"/>
            <a:ext cx="201168" cy="201168"/>
          </a:xfrm>
          <a:prstGeom prst="ellipse">
            <a:avLst/>
          </a:prstGeom>
          <a:solidFill>
            <a:srgbClr val="FF9933"/>
          </a:solidFill>
          <a:ln/>
        </p:spPr>
      </p:sp>
      <p:sp>
        <p:nvSpPr>
          <p:cNvPr id="55" name="Text 42"/>
          <p:cNvSpPr/>
          <p:nvPr/>
        </p:nvSpPr>
        <p:spPr>
          <a:xfrm>
            <a:off x="5660136" y="1307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56" name="Text 43"/>
          <p:cNvSpPr/>
          <p:nvPr/>
        </p:nvSpPr>
        <p:spPr>
          <a:xfrm>
            <a:off x="5623560" y="18928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</a:t>
            </a:r>
            <a:endParaRPr lang="en-US" sz="1100" dirty="0"/>
          </a:p>
        </p:txBody>
      </p:sp>
      <p:sp>
        <p:nvSpPr>
          <p:cNvPr id="57" name="Text 44"/>
          <p:cNvSpPr/>
          <p:nvPr/>
        </p:nvSpPr>
        <p:spPr>
          <a:xfrm>
            <a:off x="5669280" y="21945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risk (0-100)</a:t>
            </a:r>
            <a:endParaRPr lang="en-US" sz="900" dirty="0"/>
          </a:p>
        </p:txBody>
      </p:sp>
      <p:pic>
        <p:nvPicPr>
          <p:cNvPr id="5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47104" y="1874520"/>
            <a:ext cx="128016" cy="128016"/>
          </a:xfrm>
          <a:prstGeom prst="rect">
            <a:avLst/>
          </a:prstGeom>
        </p:spPr>
      </p:pic>
      <p:sp>
        <p:nvSpPr>
          <p:cNvPr id="59" name="Shape 45"/>
          <p:cNvSpPr/>
          <p:nvPr/>
        </p:nvSpPr>
        <p:spPr>
          <a:xfrm>
            <a:off x="6665976" y="1234440"/>
            <a:ext cx="9144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60" name="Shape 46"/>
          <p:cNvSpPr/>
          <p:nvPr/>
        </p:nvSpPr>
        <p:spPr>
          <a:xfrm>
            <a:off x="6665976" y="1234440"/>
            <a:ext cx="914400" cy="45720"/>
          </a:xfrm>
          <a:prstGeom prst="rect">
            <a:avLst/>
          </a:prstGeom>
          <a:solidFill>
            <a:srgbClr val="FF9933"/>
          </a:solidFill>
          <a:ln/>
        </p:spPr>
      </p:sp>
      <p:pic>
        <p:nvPicPr>
          <p:cNvPr id="6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40296" y="1417320"/>
            <a:ext cx="365760" cy="365760"/>
          </a:xfrm>
          <a:prstGeom prst="rect">
            <a:avLst/>
          </a:prstGeom>
        </p:spPr>
      </p:pic>
      <p:sp>
        <p:nvSpPr>
          <p:cNvPr id="62" name="Text 47"/>
          <p:cNvSpPr/>
          <p:nvPr/>
        </p:nvSpPr>
        <p:spPr>
          <a:xfrm>
            <a:off x="6702552" y="13075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3" name="Shape 48"/>
          <p:cNvSpPr/>
          <p:nvPr/>
        </p:nvSpPr>
        <p:spPr>
          <a:xfrm>
            <a:off x="6702552" y="1307592"/>
            <a:ext cx="201168" cy="201168"/>
          </a:xfrm>
          <a:prstGeom prst="ellipse">
            <a:avLst/>
          </a:prstGeom>
          <a:solidFill>
            <a:srgbClr val="FF9933"/>
          </a:solidFill>
          <a:ln/>
        </p:spPr>
      </p:sp>
      <p:sp>
        <p:nvSpPr>
          <p:cNvPr id="64" name="Text 49"/>
          <p:cNvSpPr/>
          <p:nvPr/>
        </p:nvSpPr>
        <p:spPr>
          <a:xfrm>
            <a:off x="6702552" y="1307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65" name="Text 50"/>
          <p:cNvSpPr/>
          <p:nvPr/>
        </p:nvSpPr>
        <p:spPr>
          <a:xfrm>
            <a:off x="6665976" y="18928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</a:t>
            </a:r>
            <a:endParaRPr lang="en-US" sz="1100" dirty="0"/>
          </a:p>
        </p:txBody>
      </p:sp>
      <p:sp>
        <p:nvSpPr>
          <p:cNvPr id="66" name="Text 51"/>
          <p:cNvSpPr/>
          <p:nvPr/>
        </p:nvSpPr>
        <p:spPr>
          <a:xfrm>
            <a:off x="6711696" y="21945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Sarvam-105B LLM</a:t>
            </a:r>
            <a:endParaRPr lang="en-US" sz="900" dirty="0"/>
          </a:p>
        </p:txBody>
      </p:sp>
      <p:pic>
        <p:nvPicPr>
          <p:cNvPr id="6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89520" y="1874520"/>
            <a:ext cx="128016" cy="128016"/>
          </a:xfrm>
          <a:prstGeom prst="rect">
            <a:avLst/>
          </a:prstGeom>
        </p:spPr>
      </p:pic>
      <p:sp>
        <p:nvSpPr>
          <p:cNvPr id="68" name="Shape 52"/>
          <p:cNvSpPr/>
          <p:nvPr/>
        </p:nvSpPr>
        <p:spPr>
          <a:xfrm>
            <a:off x="7708392" y="1234440"/>
            <a:ext cx="9144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69" name="Shape 53"/>
          <p:cNvSpPr/>
          <p:nvPr/>
        </p:nvSpPr>
        <p:spPr>
          <a:xfrm>
            <a:off x="7708392" y="1234440"/>
            <a:ext cx="914400" cy="45720"/>
          </a:xfrm>
          <a:prstGeom prst="rect">
            <a:avLst/>
          </a:prstGeom>
          <a:solidFill>
            <a:srgbClr val="FF9933"/>
          </a:solidFill>
          <a:ln/>
        </p:spPr>
      </p:sp>
      <p:pic>
        <p:nvPicPr>
          <p:cNvPr id="7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82712" y="1417320"/>
            <a:ext cx="365760" cy="365760"/>
          </a:xfrm>
          <a:prstGeom prst="rect">
            <a:avLst/>
          </a:prstGeom>
        </p:spPr>
      </p:pic>
      <p:sp>
        <p:nvSpPr>
          <p:cNvPr id="71" name="Text 54"/>
          <p:cNvSpPr/>
          <p:nvPr/>
        </p:nvSpPr>
        <p:spPr>
          <a:xfrm>
            <a:off x="7744968" y="13075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2" name="Shape 55"/>
          <p:cNvSpPr/>
          <p:nvPr/>
        </p:nvSpPr>
        <p:spPr>
          <a:xfrm>
            <a:off x="7744968" y="1307592"/>
            <a:ext cx="201168" cy="201168"/>
          </a:xfrm>
          <a:prstGeom prst="ellipse">
            <a:avLst/>
          </a:prstGeom>
          <a:solidFill>
            <a:srgbClr val="FF9933"/>
          </a:solidFill>
          <a:ln/>
        </p:spPr>
      </p:sp>
      <p:sp>
        <p:nvSpPr>
          <p:cNvPr id="73" name="Text 56"/>
          <p:cNvSpPr/>
          <p:nvPr/>
        </p:nvSpPr>
        <p:spPr>
          <a:xfrm>
            <a:off x="7744968" y="1307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74" name="Text 57"/>
          <p:cNvSpPr/>
          <p:nvPr/>
        </p:nvSpPr>
        <p:spPr>
          <a:xfrm>
            <a:off x="7708392" y="18928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Decide</a:t>
            </a:r>
            <a:endParaRPr lang="en-US" sz="1100" dirty="0"/>
          </a:p>
        </p:txBody>
      </p:sp>
      <p:sp>
        <p:nvSpPr>
          <p:cNvPr id="75" name="Text 58"/>
          <p:cNvSpPr/>
          <p:nvPr/>
        </p:nvSpPr>
        <p:spPr>
          <a:xfrm>
            <a:off x="7754112" y="21945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action</a:t>
            </a:r>
            <a:endParaRPr lang="en-US" sz="900" dirty="0"/>
          </a:p>
        </p:txBody>
      </p:sp>
      <p:sp>
        <p:nvSpPr>
          <p:cNvPr id="76" name="Shape 59"/>
          <p:cNvSpPr/>
          <p:nvPr/>
        </p:nvSpPr>
        <p:spPr>
          <a:xfrm>
            <a:off x="411480" y="3246120"/>
            <a:ext cx="8321040" cy="15544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77" name="Text 60"/>
          <p:cNvSpPr/>
          <p:nvPr/>
        </p:nvSpPr>
        <p:spPr>
          <a:xfrm>
            <a:off x="640080" y="3337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78" name="Text 61"/>
          <p:cNvSpPr/>
          <p:nvPr/>
        </p:nvSpPr>
        <p:spPr>
          <a:xfrm>
            <a:off x="640080" y="3703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 (async)</a:t>
            </a:r>
            <a:endParaRPr lang="en-US" sz="1000" dirty="0"/>
          </a:p>
        </p:txBody>
      </p:sp>
      <p:sp>
        <p:nvSpPr>
          <p:cNvPr id="79" name="Text 62"/>
          <p:cNvSpPr/>
          <p:nvPr/>
        </p:nvSpPr>
        <p:spPr>
          <a:xfrm>
            <a:off x="640080" y="4050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Engine: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Sarvam-30B / 105B LLM, Saarika STT, Bulbul TTS, Mayura Translate</a:t>
            </a:r>
            <a:endParaRPr lang="en-US" sz="1000" dirty="0"/>
          </a:p>
        </p:txBody>
      </p:sp>
      <p:sp>
        <p:nvSpPr>
          <p:cNvPr id="80" name="Text 63"/>
          <p:cNvSpPr/>
          <p:nvPr/>
        </p:nvSpPr>
        <p:spPr>
          <a:xfrm>
            <a:off x="640080" y="43982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+ SQLite (async)</a:t>
            </a:r>
            <a:endParaRPr lang="en-US" sz="1000" dirty="0"/>
          </a:p>
        </p:txBody>
      </p:sp>
      <p:sp>
        <p:nvSpPr>
          <p:cNvPr id="81" name="Text 64"/>
          <p:cNvSpPr/>
          <p:nvPr/>
        </p:nvSpPr>
        <p:spPr>
          <a:xfrm>
            <a:off x="4754880" y="3703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RapidFuzz (fuzzy string matching)</a:t>
            </a:r>
            <a:endParaRPr lang="en-US" sz="1000" dirty="0"/>
          </a:p>
        </p:txBody>
      </p:sp>
      <p:sp>
        <p:nvSpPr>
          <p:cNvPr id="82" name="Text 65"/>
          <p:cNvSpPr/>
          <p:nvPr/>
        </p:nvSpPr>
        <p:spPr>
          <a:xfrm>
            <a:off x="4754880" y="4050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SPA — Dark-themed officer dashboard</a:t>
            </a:r>
            <a:endParaRPr lang="en-US" sz="1000" dirty="0"/>
          </a:p>
        </p:txBody>
      </p:sp>
      <p:sp>
        <p:nvSpPr>
          <p:cNvPr id="83" name="Text 66"/>
          <p:cNvSpPr/>
          <p:nvPr/>
        </p:nvSpPr>
        <p:spPr>
          <a:xfrm>
            <a:off x="4754880" y="43982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Privacy: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Regex-based PII masking at extraction time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9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 Engine — 4 Layers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96012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22960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12014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20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896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Deterministic Rules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170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</a:rPr>
              <a:t>●  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weighted rules (dob_mismatch: 25, blacklisted: 35, deceased: 40 …)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" y="1426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</a:rPr>
              <a:t>●  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name match via RapidFuzz (token_sort_ratio, threshold 85%)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92040" y="1170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</a:rPr>
              <a:t>●  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deviation check at 30% tolerance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92040" y="1426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</a:rPr>
              <a:t>●  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multipliers: HIGH=1.0, MEDIUM=0.6, LOW=0.3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892808"/>
            <a:ext cx="8229600" cy="96012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892808"/>
            <a:ext cx="54864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2189988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1899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Cross-Verification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2240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●  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vs extracted vs connector signals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" y="24963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●  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field verifiers: name, DOB, income, address, gender, phone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92040" y="2240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●  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Indian-name normalisation (Shri/Smt prefix stripping, whitespace)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24963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●  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Discrepancy ledger with severity + match_score + evidence_uri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962656"/>
            <a:ext cx="8229600" cy="96012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2962656"/>
            <a:ext cx="54864" cy="960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3259836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2598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43000" y="3035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Fraud Pattern Library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43000" y="33101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●  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beneficiary (no docs / empty extraction / no Aadhaar record)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" y="3566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●  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identity (shared phone / bank / Aadhaar across apps)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92040" y="33101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●  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Deceased claims (death registry match + post-mortem filing)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92040" y="3566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●  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inflation, scheme hopping, address clustering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032504"/>
            <a:ext cx="8229600" cy="96012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4032504"/>
            <a:ext cx="54864" cy="9601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3" name="Shape 31"/>
          <p:cNvSpPr/>
          <p:nvPr/>
        </p:nvSpPr>
        <p:spPr>
          <a:xfrm>
            <a:off x="640080" y="4329684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3296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43000" y="41056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LLM-Assisted Reasoning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43000" y="43799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</a:rPr>
              <a:t>●  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Sarvam-105B synthesises evidence into officer-readable explanation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3000" y="4636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</a:rPr>
              <a:t>●  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grounded to extracted facts — no hallucination risk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92040" y="43799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</a:rPr>
              <a:t>●  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output via Mayura translate (11 languages)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92040" y="4636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</a:rPr>
              <a:t>●  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PII-free prompts enforced by masking guard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 Enrichment Connectors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async fetch per application — each with trust scoring and evidence URI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06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260604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070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Aadhaar History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12070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Trust: 0.85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" y="15087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schemes, application history, rejection reasons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64408" y="1097280"/>
            <a:ext cx="2606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1097280"/>
            <a:ext cx="260604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401568" y="12070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 / Income Tax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93208" y="12070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Trust: 0.80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01568" y="15087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indicators, ITR status, credit signals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71616" y="1097280"/>
            <a:ext cx="2606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71616" y="1097280"/>
            <a:ext cx="260604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208776" y="12070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Ration / PDS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00416" y="12070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Trust: 0.75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208776" y="15087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PDS records, ration card status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350008"/>
            <a:ext cx="2606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350008"/>
            <a:ext cx="260604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4597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Voter Registry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0" y="245973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Trust: 0.70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94360" y="276148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Electoral roll verification, constituency match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64408" y="2350008"/>
            <a:ext cx="2606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64408" y="2350008"/>
            <a:ext cx="260604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3401568" y="24597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Bank Velocity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93208" y="245973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Trust: 0.80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401568" y="276148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Beneficiary-to-account mapping, anomaly count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71616" y="2350008"/>
            <a:ext cx="2606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71616" y="2350008"/>
            <a:ext cx="260604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6208776" y="24597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Death Registry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900416" y="245973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Trust: 0.90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08776" y="276148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Deceased match with confidence + registry date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3602736"/>
            <a:ext cx="2606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3602736"/>
            <a:ext cx="260604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371246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Central Blacklist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286000" y="371246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Trust: 0.95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94360" y="401421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status, entries with severity + source agency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64408" y="3602736"/>
            <a:ext cx="2606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64408" y="3602736"/>
            <a:ext cx="260604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2" name="Text 40"/>
          <p:cNvSpPr/>
          <p:nvPr/>
        </p:nvSpPr>
        <p:spPr>
          <a:xfrm>
            <a:off x="3401568" y="371246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Police Reference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93208" y="371246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Trust: 0.60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401568" y="401421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reference flags (policy-limited)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071616" y="3602736"/>
            <a:ext cx="2606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071616" y="3602736"/>
            <a:ext cx="260604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7" name="Text 45"/>
          <p:cNvSpPr/>
          <p:nvPr/>
        </p:nvSpPr>
        <p:spPr>
          <a:xfrm>
            <a:off x="6208776" y="371246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Scheme History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900416" y="371246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Trust: 0.85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208776" y="401421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Cross-scheme duplicates, hopping patterns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9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Scoring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Weighted Rule Engine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39319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00584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3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Deceased match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4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9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44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Blacklisted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9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detected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4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9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44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DOB mismatch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9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velocity anomaly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4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9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44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deviation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9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mismatch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4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9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44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Scheme hopping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9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documents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4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9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44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 mismatch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9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 mismatch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4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9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44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mismatch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9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846320" y="822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Bands &amp; Actions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846320" y="1234440"/>
            <a:ext cx="3840480" cy="68580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846320" y="1234440"/>
            <a:ext cx="54864" cy="6858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6"/>
          <p:cNvSpPr/>
          <p:nvPr/>
        </p:nvSpPr>
        <p:spPr>
          <a:xfrm>
            <a:off x="5074920" y="1307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(0-24)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74920" y="15819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Fast-track + spot checks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46320" y="2057400"/>
            <a:ext cx="3840480" cy="68580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205740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5074920" y="21305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MEDIUM (25-49)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74920" y="2404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review + additional docs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846320" y="2880360"/>
            <a:ext cx="3840480" cy="68580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46320" y="2880360"/>
            <a:ext cx="54864" cy="685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4"/>
          <p:cNvSpPr/>
          <p:nvPr/>
        </p:nvSpPr>
        <p:spPr>
          <a:xfrm>
            <a:off x="5074920" y="29535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(50-74)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074920" y="32278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manual verification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846320" y="3703320"/>
            <a:ext cx="3840480" cy="68580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846320" y="3703320"/>
            <a:ext cx="54864" cy="685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8"/>
          <p:cNvSpPr/>
          <p:nvPr/>
        </p:nvSpPr>
        <p:spPr>
          <a:xfrm>
            <a:off x="5074920" y="37764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(75-100)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074920" y="40507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disbursement → fraud cell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Sarvam AI — Full-Stack Indian Language AI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868680"/>
            <a:ext cx="54864" cy="713232"/>
          </a:xfrm>
          <a:prstGeom prst="rect">
            <a:avLst/>
          </a:prstGeom>
          <a:solidFill>
            <a:srgbClr val="FF993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914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 Completions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9418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sarvam-30b / sarvam-105b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1887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extraction from docs, risk explanation generation, officer query answering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0" y="11887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64K–128K context, wiki grounding, tool calling capable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1719072"/>
            <a:ext cx="80467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719072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7647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Speech-to-Text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08960" y="17922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saarika:v2.5 / saaras:v3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20391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voice input in 12+ Indian languages, auto language detection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0" y="203911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Modes: transcribe, verbatim, transliterate, code-mix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8640" y="2569464"/>
            <a:ext cx="80467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569464"/>
            <a:ext cx="54864" cy="7132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6151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STT-Translate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08960" y="26426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saaras:v2.5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" y="28895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speech-to-English pipeline for LLM processing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0" y="288950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spoken language, outputs English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8640" y="3419856"/>
            <a:ext cx="80467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419856"/>
            <a:ext cx="54864" cy="7132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4655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Text-to-Speech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108960" y="34930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bulbul:v3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" y="37398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response generation for voice-first officer UX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0" y="3739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voices, pace/pitch control, streaming capable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8640" y="4270248"/>
            <a:ext cx="80467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4270248"/>
            <a:ext cx="54864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3159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Translation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108960" y="43434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mayura:v1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" y="45902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&amp; interface text in officer's preferred language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0" y="459028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languages, formal/colloquial modes, numeral options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9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Privacy &amp; Security by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3794760" cy="141732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960120"/>
            <a:ext cx="3794760" cy="45720"/>
          </a:xfrm>
          <a:prstGeom prst="rect">
            <a:avLst/>
          </a:prstGeom>
          <a:solidFill>
            <a:srgbClr val="FF993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1430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PII Masking at Ingestion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155448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→ XXXX-XXXX-1098, PAN → XXXXX1234X, Phone → XXXXXX3210. Regex-based masking applied before any LLM call — zero raw PII in prompts.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63440" y="960120"/>
            <a:ext cx="3794760" cy="141732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960120"/>
            <a:ext cx="3794760" cy="45720"/>
          </a:xfrm>
          <a:prstGeom prst="rect">
            <a:avLst/>
          </a:prstGeom>
          <a:solidFill>
            <a:srgbClr val="FF993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11430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Role-Based Access Control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46320" y="155448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/ Supervisor / Admin / Auditor roles. Sensitive field reveal is gated by role. Immutable audit log for every reveal event.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2697480"/>
            <a:ext cx="3794760" cy="141732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2697480"/>
            <a:ext cx="3794760" cy="45720"/>
          </a:xfrm>
          <a:prstGeom prst="rect">
            <a:avLst/>
          </a:prstGeom>
          <a:solidFill>
            <a:srgbClr val="FF993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9260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28803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 Trust Weighting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31520" y="329184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connector carries trust_score (0-1), last_updated_at, and access_mode. Stale or low-trust sources are discounted in scoring.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663440" y="2697480"/>
            <a:ext cx="3794760" cy="141732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663440" y="2697480"/>
            <a:ext cx="3794760" cy="45720"/>
          </a:xfrm>
          <a:prstGeom prst="rect">
            <a:avLst/>
          </a:prstGeom>
          <a:solidFill>
            <a:srgbClr val="FF993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92608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49240" y="28803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Human-in-the-Loop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846320" y="329184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High-impact actions (reject, escalate) always need officer confirmation. System recommends, human decides. Full decision audit trail.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&amp; Impact Metrics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828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14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9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52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Applications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64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labelled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651760" y="868680"/>
            <a:ext cx="1828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51760" y="914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9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65176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Patterns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51760" y="1664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Ghost, duplicate, deceased…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54880" y="868680"/>
            <a:ext cx="1828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914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9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75488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Rules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664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scoring engine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858000" y="868680"/>
            <a:ext cx="1828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0" y="914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9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85800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Connectors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1664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async enrichment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48640" y="2331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 Scenarios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2743200"/>
            <a:ext cx="80467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5800" y="2816352"/>
            <a:ext cx="301752" cy="30175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281635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3000" y="27889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 Beneficiary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43000" y="299008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Auto-routed to LOW risk (score 5-10). Documents consistent, no flags.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3291840"/>
            <a:ext cx="80467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5800" y="3364992"/>
            <a:ext cx="301752" cy="30175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336499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43000" y="33375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Duplicate Ring Detection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43000" y="353872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bank+phone+Aadhaar across apps triggers HIGH/CRITICAL. Network flags surface linked entities.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85800" y="3913632"/>
            <a:ext cx="301752" cy="3017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391363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43000" y="38862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Income Mismatch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43000" y="408736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₹8K vs extracted ₹45K — 82% deviation. MEDIUM flag with evidence citations.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85800" y="4462272"/>
            <a:ext cx="301752" cy="30175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" y="446227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43000" y="44348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Deceased Claim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43000" y="463600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registry match (92% confidence). Post-mortem filing detected. CRITICAL + auto-escalation.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9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Sets NaVRatM Apart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3840480" cy="10972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868680"/>
            <a:ext cx="45720" cy="1097280"/>
          </a:xfrm>
          <a:prstGeom prst="rect">
            <a:avLst/>
          </a:prstGeom>
          <a:solidFill>
            <a:srgbClr val="FF993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058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9784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Evidence-First, Not Score-Only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43000" y="130759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risk point maps to verifiable source evidence with URI — not a black-box number.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63440" y="868680"/>
            <a:ext cx="3840480" cy="10972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868680"/>
            <a:ext cx="45720" cy="1097280"/>
          </a:xfrm>
          <a:prstGeom prst="rect">
            <a:avLst/>
          </a:prstGeom>
          <a:solidFill>
            <a:srgbClr val="FF993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0584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9784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Fully Agentic Pipeline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303520" y="130759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8-stage orchestrated DAG: intake → extract → verify → enrich → detect → score → explain → decide.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02920" y="2167128"/>
            <a:ext cx="3840480" cy="10972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02920" y="2167128"/>
            <a:ext cx="45720" cy="1097280"/>
          </a:xfrm>
          <a:prstGeom prst="rect">
            <a:avLst/>
          </a:prstGeom>
          <a:solidFill>
            <a:srgbClr val="FF993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04288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43000" y="22768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for Bharat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143000" y="26060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Indic AI (Sarvam): Hindi, Tamil, Telugu, Bengali… Officers use their own language, not English.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663440" y="2167128"/>
            <a:ext cx="3840480" cy="10972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663440" y="2167128"/>
            <a:ext cx="45720" cy="1097280"/>
          </a:xfrm>
          <a:prstGeom prst="rect">
            <a:avLst/>
          </a:prstGeom>
          <a:solidFill>
            <a:srgbClr val="FF993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304288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03520" y="22768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 Intelligence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303520" y="26060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Cross-application pattern matching: shared bank accounts, phone rings, address clustering, Aadhaar collisions.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02920" y="3465576"/>
            <a:ext cx="3840480" cy="10972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02920" y="3465576"/>
            <a:ext cx="45720" cy="1097280"/>
          </a:xfrm>
          <a:prstGeom prst="rect">
            <a:avLst/>
          </a:prstGeom>
          <a:solidFill>
            <a:srgbClr val="FF993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602736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43000" y="35753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Zero-PII LLM Prompts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1143000" y="390448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Aadhaar, PAN, phone, bank — all masked before any AI model call. Demonstrated, not just claimed.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663440" y="3465576"/>
            <a:ext cx="3840480" cy="10972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663440" y="3465576"/>
            <a:ext cx="45720" cy="1097280"/>
          </a:xfrm>
          <a:prstGeom prst="rect">
            <a:avLst/>
          </a:prstGeom>
          <a:solidFill>
            <a:srgbClr val="FF9933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602736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303520" y="35753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Measurable Impact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5303520" y="390448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ground-truth cases, precision/recall/F1 computed, per-pattern detection rates tracked.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9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NaVRatM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914400" y="2651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genuine beneficiaries. Catching fraud before it costs.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8-stage agentic pipeline   ·   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enrichment connectors   ·   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fraud pattern detectors   ·   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weighted risk rules   ·   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Sarvam AI APIs   ·   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demo cases with ground truth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43200" y="3840480"/>
            <a:ext cx="3657600" cy="502920"/>
          </a:xfrm>
          <a:prstGeom prst="rect">
            <a:avLst/>
          </a:prstGeom>
          <a:solidFill>
            <a:srgbClr val="FF9933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743200" y="3840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 →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NaVRatM  |  Hackathon 2026  |  Powered by Sarvam AI  |  Built with FastAPI + PptxGenJS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NaVRatM — AI-Driven Beneficiary Intelligence &amp; Fraud Detection</dc:title>
  <dc:subject>PptxGenJS Presentation</dc:subject>
  <dc:creator>Team NaVRatM</dc:creator>
  <cp:lastModifiedBy>Team NaVRatM</cp:lastModifiedBy>
  <cp:revision>1</cp:revision>
  <dcterms:created xsi:type="dcterms:W3CDTF">2026-04-16T03:41:42Z</dcterms:created>
  <dcterms:modified xsi:type="dcterms:W3CDTF">2026-04-16T03:41:42Z</dcterms:modified>
</cp:coreProperties>
</file>